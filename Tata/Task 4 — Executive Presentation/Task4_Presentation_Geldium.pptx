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1. Inputs</a:t>
            </a:r>
            <a:r>
              <a:rPr lang="en-GB" sz="1600" dirty="0"/>
              <a:t>: Customer data ingested daily from Geldium’s core systems — credit utilization, missed payment history (Month 1–6), debt-to-income ratio, credit score, account tenure, income, and employment status. No sensitive PII shared externally.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2. Decision Logic</a:t>
            </a:r>
            <a:r>
              <a:rPr lang="en-GB" sz="1600" dirty="0"/>
              <a:t>: Logistic regression model scores each customer daily with a delinquency risk probability (0–1), mapped to Low / Medium / High tiers. High-risk = credit utilization &gt;70% AND 2+ missed payments in past 6 months.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3. Actions</a:t>
            </a:r>
            <a:r>
              <a:rPr lang="en-GB" sz="1600" dirty="0"/>
              <a:t>: Tiered outreach triggered by risk score — Day 25: automated SMS reminder (Low/Medium); Day 28: agent call with tailored payment plan or deferral offer (High); Day 30+: escalation to senior collections agent.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4. Learning Loop</a:t>
            </a:r>
            <a:r>
              <a:rPr lang="en-GB" sz="1600" dirty="0"/>
              <a:t>: Outcomes (payment made / delinquency crossed / no response) fed back into the model quarterly. Intervention effectiveness tracked by segment to refine risk thresholds and outreach tactics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1500" b="1" dirty="0"/>
              <a:t>AI-Driven (Autonomous)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Daily risk scoring of all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Automated SMS reminders at Day 25 for Low/Medium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Prioritized outreach queue generation for agents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Quarterly model retraining from outcome feedback</a:t>
            </a:r>
          </a:p>
          <a:p>
            <a:pPr>
              <a:buNone/>
            </a:pPr>
            <a:r>
              <a:rPr lang="en-GB" sz="1400" dirty="0"/>
              <a:t> </a:t>
            </a:r>
          </a:p>
          <a:p>
            <a:pPr>
              <a:buNone/>
            </a:pPr>
            <a:r>
              <a:rPr lang="en-GB" sz="1500" b="1" dirty="0"/>
              <a:t>Human Oversight Required</a:t>
            </a:r>
          </a:p>
          <a:p>
            <a:pPr>
              <a:buFont typeface="Arial" panose="020B0604020202020204" pitchFamily="34" charset="0"/>
              <a:buChar char="▶"/>
            </a:pPr>
            <a:r>
              <a:rPr lang="en-GB" sz="1400" dirty="0"/>
              <a:t>Agent calls and payment plan offers for High-risk (Day 28)</a:t>
            </a:r>
          </a:p>
          <a:p>
            <a:pPr>
              <a:buFont typeface="Arial" panose="020B0604020202020204" pitchFamily="34" charset="0"/>
              <a:buChar char="▶"/>
            </a:pPr>
            <a:r>
              <a:rPr lang="en-GB" sz="1400" dirty="0"/>
              <a:t>Hardship assessment and deferral decisions</a:t>
            </a:r>
          </a:p>
          <a:p>
            <a:pPr>
              <a:buFont typeface="Arial" panose="020B0604020202020204" pitchFamily="34" charset="0"/>
              <a:buChar char="▶"/>
            </a:pPr>
            <a:r>
              <a:rPr lang="en-GB" sz="1400" dirty="0"/>
              <a:t>Escalation decisions for complex or repeat cases</a:t>
            </a:r>
          </a:p>
          <a:p>
            <a:pPr>
              <a:buFont typeface="Arial" panose="020B0604020202020204" pitchFamily="34" charset="0"/>
              <a:buChar char="▶"/>
            </a:pPr>
            <a:r>
              <a:rPr lang="en-GB" sz="1400" dirty="0"/>
              <a:t>Quarterly fairness audits and compliance sign-off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 xml:space="preserve">Fairness &amp; Bias Monitoring: </a:t>
            </a:r>
            <a:r>
              <a:rPr lang="en-GB" sz="1500" dirty="0"/>
              <a:t>Quarterly disparate impact analysis across Age, Employment_Status, and Location. Variables acting as demographic proxies are reviewed for removal before the next model cycle.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 xml:space="preserve">Explainability: </a:t>
            </a:r>
            <a:r>
              <a:rPr lang="en-GB" sz="1500" dirty="0"/>
              <a:t>Logistic regression ensures every risk flag has a plain-language explanation agents can share with customers (e.g., flagged due to 2 missed payments and high credit usage). No black-box outputs.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 xml:space="preserve">Human-in-the-Loop: </a:t>
            </a:r>
            <a:r>
              <a:rPr lang="en-GB" sz="1500" dirty="0"/>
              <a:t>All high-impact decisions (deferrals, escalations, hardship plans) require agent review. AI prioritizes who to contact; humans decide what action to take. Customers have a clear route to contest any risk-based 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 xml:space="preserve">Regulatory Compliance: </a:t>
            </a:r>
            <a:r>
              <a:rPr lang="en-GB" sz="1500" dirty="0"/>
              <a:t>Model documentation, feature weights, and fairness metrics disclosed to Risk &amp; Compliance quarterly. Data handling aligned with applicable data protection regulations.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LeftCol"/>
          <p:cNvSpPr txBox="1">
            <a:spLocks noGrp="1"/>
          </p:cNvSpPr>
          <p:nvPr/>
        </p:nvSpPr>
        <p:spPr>
          <a:xfrm>
            <a:off x="387900" y="1300000"/>
            <a:ext cx="4000000" cy="3200000"/>
          </a:xfrm>
          <a:prstGeom prst="rect">
            <a:avLst/>
          </a:prstGeom>
          <a:solidFill>
            <a:srgbClr val="0D4D6B"/>
          </a:solidFill>
        </p:spPr>
        <p:txBody>
          <a:bodyPr wrap="square" lIns="180000" tIns="180000" rIns="180000" bIns="180000" anchor="t">
            <a:normAutofit/>
          </a:bodyPr>
          <a:lstStyle/>
          <a:p>
            <a:pPr>
              <a:buNone/>
            </a:pPr>
            <a:r>
              <a:rPr lang="en-GB" sz="1800" b="1" dirty="0">
                <a:solidFill>
                  <a:srgbClr val="7EC8E3"/>
                </a:solidFill>
              </a:rPr>
              <a:t>📊  Business KPIs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FFFFFF"/>
                </a:solidFill>
              </a:rPr>
              <a:t>✓  10–15% reduction in 30-day delinquency rates (pilot target)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FFFFFF"/>
                </a:solidFill>
              </a:rPr>
              <a:t>✓  Reduced cost per contact: effort focused on high-risk 16%, not all 500 customers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FFFFFF"/>
                </a:solidFill>
              </a:rPr>
              <a:t>✓  Improved repayment recovery via timely intervention before Day 30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FFFFFF"/>
                </a:solidFill>
              </a:rPr>
              <a:t>✓  Scalable: handles growing customer base without proportional headcount increase</a:t>
            </a:r>
          </a:p>
        </p:txBody>
      </p:sp>
      <p:sp>
        <p:nvSpPr>
          <p:cNvPr id="96" name="RightCol"/>
          <p:cNvSpPr txBox="1">
            <a:spLocks noGrp="1"/>
          </p:cNvSpPr>
          <p:nvPr/>
        </p:nvSpPr>
        <p:spPr>
          <a:xfrm>
            <a:off x="4557900" y="1300000"/>
            <a:ext cx="4000000" cy="3200000"/>
          </a:xfrm>
          <a:prstGeom prst="rect">
            <a:avLst/>
          </a:prstGeom>
          <a:solidFill>
            <a:srgbClr val="0A3D52"/>
          </a:solidFill>
        </p:spPr>
        <p:txBody>
          <a:bodyPr wrap="square" lIns="180000" tIns="180000" rIns="180000" bIns="180000" anchor="t">
            <a:normAutofit/>
          </a:bodyPr>
          <a:lstStyle/>
          <a:p>
            <a:pPr>
              <a:buNone/>
            </a:pPr>
            <a:r>
              <a:rPr lang="en-GB" sz="1800" b="1" dirty="0">
                <a:solidFill>
                  <a:srgbClr val="90EE90"/>
                </a:solidFill>
              </a:rPr>
              <a:t>🤝  Customer Outcomes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FFFFFF"/>
                </a:solidFill>
              </a:rPr>
              <a:t>⭐  Earlier outreach — customers reached before they formally default, reducing stress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FFFFFF"/>
                </a:solidFill>
              </a:rPr>
              <a:t>⭐  Fairer treatment: risk scores based on financial behaviour, not demographic proxies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FFFFFF"/>
                </a:solidFill>
              </a:rPr>
              <a:t>⭐  Transparent decisions: customers can request plain-language explanation of risk flag</a:t>
            </a:r>
          </a:p>
          <a:p>
            <a:pPr>
              <a:spcBef>
                <a:spcPts val="200"/>
              </a:spcBef>
              <a:buNone/>
            </a:pPr>
            <a:r>
              <a:rPr lang="en-GB" sz="1400" dirty="0">
                <a:solidFill>
                  <a:srgbClr val="FFFFFF"/>
                </a:solidFill>
              </a:rPr>
              <a:t>⭐  Clear route to contest any risk-based collections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&amp; Recommendation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Arial" panose="020B0604020202020204" pitchFamily="34" charset="0"/>
              <a:buChar char="1"/>
            </a:pPr>
            <a:r>
              <a:rPr lang="en-GB" sz="1600" b="1" dirty="0"/>
              <a:t xml:space="preserve">Validate target variable </a:t>
            </a:r>
            <a:r>
              <a:rPr lang="en-GB" sz="1600" dirty="0"/>
              <a:t>— Confirm Delinquent_Account labeling with Geldium’s source repayment records before model deployment (prerequisite).</a:t>
            </a:r>
          </a:p>
          <a:p>
            <a:pPr>
              <a:buFont typeface="Arial" panose="020B0604020202020204" pitchFamily="34" charset="0"/>
              <a:buChar char="2"/>
            </a:pPr>
            <a:r>
              <a:rPr lang="en-GB" sz="1600" b="1" dirty="0"/>
              <a:t xml:space="preserve">Data cleanup </a:t>
            </a:r>
            <a:r>
              <a:rPr lang="en-GB" sz="1600" dirty="0"/>
              <a:t>— Standardize Employment_Status labels, apply median imputation (Income, Loan_Balance), resolve Credit_Utilization outliers (&gt;100%).</a:t>
            </a:r>
          </a:p>
          <a:p>
            <a:pPr>
              <a:buFont typeface="Arial" panose="020B0604020202020204" pitchFamily="34" charset="0"/>
              <a:buChar char="3"/>
            </a:pPr>
            <a:r>
              <a:rPr lang="en-GB" sz="1600" b="1" dirty="0"/>
              <a:t xml:space="preserve">Run 6-week pilot </a:t>
            </a:r>
            <a:r>
              <a:rPr lang="en-GB" sz="1600" dirty="0"/>
              <a:t>— Deploy SMS + agent outreach for high-risk segment with a matched control group. Interim review at Week 3, full evaluation at Week 6.</a:t>
            </a:r>
          </a:p>
          <a:p>
            <a:pPr>
              <a:buFont typeface="Arial" panose="020B0604020202020204" pitchFamily="34" charset="0"/>
              <a:buChar char="4"/>
            </a:pPr>
            <a:r>
              <a:rPr lang="en-GB" sz="1600" b="1" dirty="0"/>
              <a:t xml:space="preserve">Evaluate &amp; scale </a:t>
            </a:r>
            <a:r>
              <a:rPr lang="en-GB" sz="1600" dirty="0"/>
              <a:t>— If pilot achieves 10–15% delinquency reduction, proceed to full rollout with quarterly model retraining and ongoing fairness audits built in from day one.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